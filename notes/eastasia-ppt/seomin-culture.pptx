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946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RoiTalQo_XM?feature=oembed" TargetMode="External"/><Relationship Id="rId7" Type="http://schemas.openxmlformats.org/officeDocument/2006/relationships/image" Target="../media/image3.jpeg"/><Relationship Id="rId2" Type="http://schemas.openxmlformats.org/officeDocument/2006/relationships/video" Target="https://www.youtube.com/embed/XMqb8TkkowQ?feature=oembed" TargetMode="External"/><Relationship Id="rId1" Type="http://schemas.openxmlformats.org/officeDocument/2006/relationships/video" Target="https://www.youtube.com/embed/K85QFnzeuvI?feature=oembed" TargetMode="Externa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동아시아사 · 대주제 3 · 주제 9</a:t>
            </a:r>
          </a:p>
        </p:txBody>
      </p:sp>
      <p:sp>
        <p:nvSpPr>
          <p:cNvPr id="5" name="Rectangle 4"/>
          <p:cNvSpPr/>
          <p:nvPr/>
        </p:nvSpPr>
        <p:spPr>
          <a:xfrm rot="21480000">
            <a:off x="647700" y="2914650"/>
            <a:ext cx="4079974" cy="213360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21480000">
            <a:off x="914400" y="3181350"/>
            <a:ext cx="354657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사회 변동과</a:t>
            </a:r>
          </a:p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 문화</a:t>
            </a:r>
          </a:p>
        </p:txBody>
      </p:sp>
      <p:sp>
        <p:nvSpPr>
          <p:cNvPr id="7" name="Rectangle 6"/>
          <p:cNvSpPr/>
          <p:nvPr/>
        </p:nvSpPr>
        <p:spPr>
          <a:xfrm rot="90000">
            <a:off x="914399" y="6372224"/>
            <a:ext cx="6192440" cy="8667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17~19세기, 무대 앞으로 걸어 나온 새로운 주인공들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77275"/>
            <a:ext cx="122872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명·청 · 조선 · 에도 일본 비교사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들어가며 · 관통하는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문화를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누리는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사람이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바뀌면</a:t>
            </a:r>
            <a:r>
              <a:rPr 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문화도 바뀐다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3252312"/>
            <a:ext cx="13741810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상공업과 도시가 발달하자 상인</a:t>
            </a:r>
            <a:r>
              <a:rPr lang="en-US" altLang="ko-KR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·</a:t>
            </a: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농민</a:t>
            </a:r>
            <a:r>
              <a:rPr lang="en-US" altLang="ko-KR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·</a:t>
            </a: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중인</a:t>
            </a:r>
            <a:r>
              <a:rPr lang="en-US" altLang="ko-KR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·</a:t>
            </a:r>
            <a:r>
              <a:rPr lang="ko-KR" altLang="en-US"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조닌이</a:t>
            </a:r>
            <a:endParaRPr lang="en-US" altLang="ko-KR" sz="4800" b="1" spc="-96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  <a:p>
            <a:pPr algn="l">
              <a:lnSpc>
                <a:spcPct val="100000"/>
              </a:lnSpc>
            </a:pP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무대 앞으로 등장했다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130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lang="ko-KR" altLang="en-US"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서민들은 어떤 문화를 필요로 하였는가</a:t>
            </a:r>
            <a:r>
              <a:rPr lang="en-US" altLang="ko-KR"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lang="ko-KR" altLang="en-US"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그 결과 동아시아 문화계에는 어떤 변화가 나타났는가</a:t>
            </a:r>
            <a:r>
              <a:rPr lang="en-US" altLang="ko-KR"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?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한눈에 보는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흐름 이해하기</a:t>
            </a:r>
            <a:r>
              <a:rPr lang="en-US" altLang="ko-KR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!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21048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21480000">
            <a:off x="1995122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 rot="21480000">
            <a:off x="1088445" y="4981862"/>
            <a:ext cx="24841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원동력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24845" y="5590826"/>
            <a:ext cx="2484120" cy="140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상공업·도시</a:t>
            </a:r>
            <a:r>
              <a:rPr sz="18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발달</a:t>
            </a:r>
            <a:r>
              <a:rPr sz="18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sz="18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서민의</a:t>
            </a:r>
            <a:r>
              <a:rPr sz="18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성장</a:t>
            </a:r>
            <a:endParaRPr sz="18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85572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17004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90000">
            <a:off x="4307933" y="444810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rot="90000">
            <a:off x="5475960" y="406763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4515762" y="4981736"/>
            <a:ext cx="24841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1막 · 무대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4488459" y="5590979"/>
            <a:ext cx="2484120" cy="140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공연·대중문학·교육의 확산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424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56856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34000">
            <a:off x="7715097" y="444813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rot="21534000">
            <a:off x="8813325" y="4067423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 rot="21534000">
            <a:off x="7892888" y="4981661"/>
            <a:ext cx="24841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2막 · 그림</a:t>
            </a:r>
          </a:p>
        </p:txBody>
      </p:sp>
      <p:sp>
        <p:nvSpPr>
          <p:cNvPr id="21" name="TextBox 20"/>
          <p:cNvSpPr txBox="1"/>
          <p:nvPr/>
        </p:nvSpPr>
        <p:spPr>
          <a:xfrm rot="21534000">
            <a:off x="7912911" y="5591069"/>
            <a:ext cx="2484120" cy="140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민간 회화가 생활 속으로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5276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1096708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120000">
            <a:off x="11103311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rot="120000">
            <a:off x="12284757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 rot="120000">
            <a:off x="11316914" y="4981862"/>
            <a:ext cx="24841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3막 · 학문</a:t>
            </a:r>
          </a:p>
        </p:txBody>
      </p:sp>
      <p:sp>
        <p:nvSpPr>
          <p:cNvPr id="27" name="TextBox 26"/>
          <p:cNvSpPr txBox="1"/>
          <p:nvPr/>
        </p:nvSpPr>
        <p:spPr>
          <a:xfrm rot="120000">
            <a:off x="11280514" y="5590826"/>
            <a:ext cx="2484120" cy="140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'이대로 괜찮은가'라는 각성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5128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1436560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498000">
            <a:off x="14514131" y="4448091"/>
            <a:ext cx="2865120" cy="29241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21498000">
            <a:off x="15596256" y="4067768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 rot="21498000">
            <a:off x="14684992" y="4981782"/>
            <a:ext cx="248412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4막 · 갈림길</a:t>
            </a:r>
          </a:p>
        </p:txBody>
      </p:sp>
      <p:sp>
        <p:nvSpPr>
          <p:cNvPr id="33" name="TextBox 32"/>
          <p:cNvSpPr txBox="1"/>
          <p:nvPr/>
        </p:nvSpPr>
        <p:spPr>
          <a:xfrm rot="21498000">
            <a:off x="14715934" y="5417799"/>
            <a:ext cx="2484120" cy="668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서양</a:t>
            </a:r>
            <a:r>
              <a:rPr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lang="ko-KR" altLang="en-US"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문물 </a:t>
            </a:r>
            <a:r>
              <a:rPr sz="18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수용</a:t>
            </a:r>
            <a:r>
              <a:rPr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,</a:t>
            </a:r>
            <a:endParaRPr lang="en-US" sz="1800" b="1" dirty="0">
              <a:solidFill>
                <a:srgbClr val="FFFFFF"/>
              </a:solidFill>
              <a:latin typeface="Archivo Black"/>
              <a:ea typeface="Pretendard"/>
              <a:cs typeface="Pretendard"/>
            </a:endParaRPr>
          </a:p>
          <a:p>
            <a:pPr algn="ctr">
              <a:lnSpc>
                <a:spcPct val="125000"/>
              </a:lnSpc>
            </a:pPr>
            <a:r>
              <a:rPr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세 </a:t>
            </a:r>
            <a:r>
              <a:rPr sz="18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나라의</a:t>
            </a:r>
            <a:r>
              <a:rPr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다른</a:t>
            </a:r>
            <a:r>
              <a:rPr sz="18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 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무대 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서민이 즐긴 공연과 이야기, 그리고 배움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공연문화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서민은 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'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재미'를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요구했다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72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2000">
            <a:off x="972347" y="2915256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 rot="72000">
            <a:off x="1270565" y="3094488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72000">
            <a:off x="1262386" y="3512614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경극</a:t>
            </a:r>
            <a:endParaRPr sz="36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 rot="72000">
            <a:off x="1209625" y="4293893"/>
            <a:ext cx="4724400" cy="1760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노래·춤·무술·곡예의 종합 예술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각본은 누구나 아는 역사·전설에서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'베이징 오페라'로 불림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21480000">
            <a:off x="6380432" y="2916335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 rot="21480000">
            <a:off x="6696202" y="309544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80000">
            <a:off x="6709831" y="3513418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판소리 · 탈춤</a:t>
            </a:r>
          </a:p>
        </p:txBody>
      </p:sp>
      <p:sp>
        <p:nvSpPr>
          <p:cNvPr id="15" name="TextBox 14"/>
          <p:cNvSpPr txBox="1"/>
          <p:nvPr/>
        </p:nvSpPr>
        <p:spPr>
          <a:xfrm rot="21480000">
            <a:off x="6797756" y="4293715"/>
            <a:ext cx="4724400" cy="1760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판소리: 권선징악·정절을 노래로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탈춤·산대놀이: 양반의 위선 풍자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문화가 '발언'이 되기 시작</a:t>
            </a:r>
          </a:p>
        </p:txBody>
      </p:sp>
      <p:sp>
        <p:nvSpPr>
          <p:cNvPr id="16" name="Rectangle 15"/>
          <p:cNvSpPr/>
          <p:nvPr/>
        </p:nvSpPr>
        <p:spPr>
          <a:xfrm rot="6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60000">
            <a:off x="12087891" y="2915071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 rot="60000">
            <a:off x="12387205" y="3094324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60000">
            <a:off x="12380389" y="3512476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가부키</a:t>
            </a:r>
          </a:p>
        </p:txBody>
      </p:sp>
      <p:sp>
        <p:nvSpPr>
          <p:cNvPr id="20" name="TextBox 19"/>
          <p:cNvSpPr txBox="1"/>
          <p:nvPr/>
        </p:nvSpPr>
        <p:spPr>
          <a:xfrm rot="60000">
            <a:off x="12336420" y="4293924"/>
            <a:ext cx="4724400" cy="1760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전통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악기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반주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+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대사·춤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연기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회전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무대·비밀문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등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특수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연출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기술로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서민의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눈을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사로잡다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공연문화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서민은 </a:t>
            </a:r>
            <a:r>
              <a:rPr lang="en-US" altLang="ko-KR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'</a:t>
            </a: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재미</a:t>
            </a:r>
            <a:r>
              <a:rPr lang="en-US" altLang="ko-KR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'</a:t>
            </a: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를 요구했다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온라인 미디어 22" title="중국원조 #변검술 1인자">
            <a:hlinkClick r:id="" action="ppaction://media"/>
            <a:extLst>
              <a:ext uri="{FF2B5EF4-FFF2-40B4-BE49-F238E27FC236}">
                <a16:creationId xmlns:a16="http://schemas.microsoft.com/office/drawing/2014/main" id="{BB90B202-C2B1-B34F-F83F-03149A89874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14400" y="2153603"/>
            <a:ext cx="4414583" cy="7818118"/>
          </a:xfrm>
          <a:prstGeom prst="rect">
            <a:avLst/>
          </a:prstGeom>
        </p:spPr>
      </p:pic>
      <p:pic>
        <p:nvPicPr>
          <p:cNvPr id="24" name="온라인 미디어 23" title="송파산대놀이_노중마당 취발이마당">
            <a:hlinkClick r:id="" action="ppaction://media"/>
            <a:extLst>
              <a:ext uri="{FF2B5EF4-FFF2-40B4-BE49-F238E27FC236}">
                <a16:creationId xmlns:a16="http://schemas.microsoft.com/office/drawing/2014/main" id="{4CF71319-35F9-4A3A-90CB-27FEC5EE15D4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6238875" y="2153603"/>
            <a:ext cx="4414581" cy="7818116"/>
          </a:xfrm>
          <a:prstGeom prst="rect">
            <a:avLst/>
          </a:prstGeom>
        </p:spPr>
      </p:pic>
      <p:pic>
        <p:nvPicPr>
          <p:cNvPr id="27" name="온라인 미디어 26" title="Kabuki Stage Tricks">
            <a:hlinkClick r:id="" action="ppaction://media"/>
            <a:extLst>
              <a:ext uri="{FF2B5EF4-FFF2-40B4-BE49-F238E27FC236}">
                <a16:creationId xmlns:a16="http://schemas.microsoft.com/office/drawing/2014/main" id="{228E2532-9072-4940-41A7-80C34E127626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11563348" y="2153603"/>
            <a:ext cx="4414582" cy="78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6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대중문학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서민의 삶이 예술의 소재가 되었다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2" y="309544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명·청</a:t>
            </a:r>
            <a:endParaRPr sz="2000" b="1" dirty="0">
              <a:solidFill>
                <a:srgbClr val="FF5A36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2" y="3531550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출판의</a:t>
            </a:r>
            <a:r>
              <a:rPr sz="36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36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황금기</a:t>
            </a:r>
            <a:endParaRPr sz="36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6" y="4613293"/>
            <a:ext cx="4724400" cy="1129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삼국지연의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』 『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홍루몽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』 등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소설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실용서·희곡도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인기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 rot="9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90000">
            <a:off x="6549431" y="2915598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 rot="90000">
            <a:off x="6846003" y="3094791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6835782" y="3531000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한글 소설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6769831" y="4613415"/>
            <a:ext cx="4724400" cy="1129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『홍길동전』 — 양반 사회 모순 비판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중인·서얼 문인의 시집 간행</a:t>
            </a:r>
          </a:p>
        </p:txBody>
      </p:sp>
      <p:sp>
        <p:nvSpPr>
          <p:cNvPr id="16" name="Rectangle 15"/>
          <p:cNvSpPr/>
          <p:nvPr/>
        </p:nvSpPr>
        <p:spPr>
          <a:xfrm rot="21534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21534000">
            <a:off x="11986480" y="2915159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 rot="21534000">
            <a:off x="12297314" y="3094402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  <a:endParaRPr sz="2000" b="1" dirty="0">
              <a:solidFill>
                <a:srgbClr val="2D5BFF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 rot="21534000">
            <a:off x="12304812" y="3530674"/>
            <a:ext cx="47244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조닌</a:t>
            </a:r>
            <a:r>
              <a:rPr sz="36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36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문학</a:t>
            </a:r>
            <a:endParaRPr sz="36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 rot="21534000">
            <a:off x="12353177" y="4613487"/>
            <a:ext cx="4724400" cy="1129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『일본영대장』 — 애정·조닌의 일상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19세기 책 대여점 증가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교육의 확산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문화의 다양화는 교육열을 낳았다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책을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즐기려면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,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글을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읽을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수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있어야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한다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202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청: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인쇄술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발달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서원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등에서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서민이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새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지식을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배움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부를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쌓은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평민이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서당을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직접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경영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실용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교재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출판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에도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읽기·쓰기·셈을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가르치는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데라코야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—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여학생에겐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그림·다도·바느질까지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벽에 걸린 그림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미술관이 아니라 집 안 벽으로 들어온 예술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민간 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세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나라가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약속한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듯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비슷한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그림을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그리다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12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20000">
            <a:off x="1010967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20000">
            <a:off x="1304797" y="309544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중국</a:t>
            </a:r>
            <a:endParaRPr sz="2000" b="1" dirty="0">
              <a:solidFill>
                <a:srgbClr val="FF5A36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 rot="120000">
            <a:off x="1291168" y="3457605"/>
            <a:ext cx="472440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연화</a:t>
            </a:r>
            <a:r>
              <a:rPr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(</a:t>
            </a:r>
            <a:r>
              <a:rPr sz="40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年畫</a:t>
            </a:r>
            <a:r>
              <a:rPr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 rot="120000">
            <a:off x="1203242" y="4197867"/>
            <a:ext cx="4724400" cy="130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정월에 집집마다 붙이는 그림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판화로 대량 복제</a:t>
            </a:r>
          </a:p>
        </p:txBody>
      </p:sp>
      <p:sp>
        <p:nvSpPr>
          <p:cNvPr id="11" name="Rectangle 10"/>
          <p:cNvSpPr/>
          <p:nvPr/>
        </p:nvSpPr>
        <p:spPr>
          <a:xfrm rot="21498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21498000">
            <a:off x="6394913" y="2915867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 rot="21498000">
            <a:off x="6709037" y="3095030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98000">
            <a:off x="6720623" y="3457256"/>
            <a:ext cx="472440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민화(民畫)</a:t>
            </a:r>
          </a:p>
        </p:txBody>
      </p:sp>
      <p:sp>
        <p:nvSpPr>
          <p:cNvPr id="15" name="TextBox 14"/>
          <p:cNvSpPr txBox="1"/>
          <p:nvPr/>
        </p:nvSpPr>
        <p:spPr>
          <a:xfrm rot="21498000">
            <a:off x="6795362" y="4197944"/>
            <a:ext cx="4724400" cy="130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까치호랑이 등 생활공간 장식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벽사(잡귀 쫓음)·길상(복 기원)</a:t>
            </a:r>
          </a:p>
        </p:txBody>
      </p:sp>
      <p:sp>
        <p:nvSpPr>
          <p:cNvPr id="16" name="Rectangle 15"/>
          <p:cNvSpPr/>
          <p:nvPr/>
        </p:nvSpPr>
        <p:spPr>
          <a:xfrm rot="72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72000">
            <a:off x="12097547" y="2915256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 rot="72000">
            <a:off x="12395765" y="3094488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72000">
            <a:off x="12387586" y="3452922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우키요에</a:t>
            </a:r>
          </a:p>
        </p:txBody>
      </p:sp>
      <p:sp>
        <p:nvSpPr>
          <p:cNvPr id="20" name="TextBox 19"/>
          <p:cNvSpPr txBox="1"/>
          <p:nvPr/>
        </p:nvSpPr>
        <p:spPr>
          <a:xfrm rot="72000">
            <a:off x="12334824" y="4198045"/>
            <a:ext cx="4724400" cy="130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대도시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조닌이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즐긴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그림</a:t>
            </a:r>
            <a:endParaRPr sz="28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서민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지위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향상의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산물</a:t>
            </a:r>
            <a:endParaRPr sz="28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민간 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560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세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나라가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약속한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듯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비슷한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3600" b="1" spc="-72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그림을</a:t>
            </a:r>
            <a:r>
              <a:rPr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lang="ko-KR" altLang="en-US" sz="3600" b="1" spc="-72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그리다</a:t>
            </a:r>
            <a:endParaRPr sz="3600" b="1" spc="-72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3139783-8AC8-5233-4579-5CBA0BEAEA9E}"/>
              </a:ext>
            </a:extLst>
          </p:cNvPr>
          <p:cNvGrpSpPr/>
          <p:nvPr/>
        </p:nvGrpSpPr>
        <p:grpSpPr>
          <a:xfrm>
            <a:off x="914400" y="2838427"/>
            <a:ext cx="13045440" cy="6496073"/>
            <a:chOff x="6262687" y="2990850"/>
            <a:chExt cx="8672513" cy="431854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11465B-83CE-D3A2-433A-AD7C01C67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2687" y="2990850"/>
              <a:ext cx="5762625" cy="43053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CC1043E-29C8-374B-974D-726F5C0D1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01512" y="2990850"/>
              <a:ext cx="2833688" cy="43185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825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같은 민간 회화, 다른 제작법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연화 VS 민화 — '어떻게 만들었나'가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14650"/>
            <a:ext cx="8115300" cy="5610225"/>
          </a:xfrm>
          <a:prstGeom prst="roundRect">
            <a:avLst>
              <a:gd name="adj" fmla="val 2716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9200" y="3181350"/>
            <a:ext cx="75057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연화</a:t>
            </a:r>
            <a:endParaRPr sz="2000" b="1" dirty="0">
              <a:solidFill>
                <a:srgbClr val="FFFFFF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9200" y="3666452"/>
            <a:ext cx="75057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대량생산</a:t>
            </a:r>
            <a:r>
              <a:rPr sz="3600" b="1" dirty="0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굿즈</a:t>
            </a:r>
            <a:endParaRPr sz="3600" b="1" dirty="0">
              <a:solidFill>
                <a:srgbClr val="FFFFFF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9200" y="4390352"/>
            <a:ext cx="7505700" cy="202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판화로 제작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 복제 가능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정월용 소모품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58300" y="2914650"/>
            <a:ext cx="8115300" cy="5610225"/>
          </a:xfrm>
          <a:prstGeom prst="rect">
            <a:avLst/>
          </a:prstGeom>
          <a:solidFill>
            <a:srgbClr val="FFF3F1"/>
          </a:solidFill>
          <a:ln w="19050">
            <a:solidFill>
              <a:srgbClr val="FF5A36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3100" y="3181350"/>
            <a:ext cx="75057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민화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3100" y="3666452"/>
            <a:ext cx="750570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집을 꾸미는 손그림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3100" y="4390352"/>
            <a:ext cx="7505700" cy="202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주로 붓으로 직접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집안 치장 장식용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자유분방·파격적</a:t>
            </a:r>
          </a:p>
        </p:txBody>
      </p:sp>
      <p:sp>
        <p:nvSpPr>
          <p:cNvPr id="14" name="Oval 13"/>
          <p:cNvSpPr/>
          <p:nvPr/>
        </p:nvSpPr>
        <p:spPr>
          <a:xfrm>
            <a:off x="8801100" y="5376862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책가도(冊架圖)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그림 한 장에 시대가 담기다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2882982"/>
            <a:ext cx="12001500" cy="2215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책가도 한 장으로 조선 후기를 보다</a:t>
            </a:r>
            <a:endParaRPr lang="en-US" altLang="ko-KR" sz="4800" b="1" spc="-96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  <a:p>
            <a:pPr algn="l">
              <a:lnSpc>
                <a:spcPct val="100000"/>
              </a:lnSpc>
            </a:pP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외래문화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수</a:t>
            </a: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용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+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신분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상승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욕구</a:t>
            </a:r>
            <a:endParaRPr lang="en-US" sz="4800" b="1" spc="-96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  <a:p>
            <a:pPr algn="l">
              <a:lnSpc>
                <a:spcPct val="100000"/>
              </a:lnSpc>
            </a:pP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+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정치적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활용</a:t>
            </a:r>
            <a:r>
              <a:rPr lang="ko-KR" alt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까지</a:t>
            </a:r>
            <a:endParaRPr sz="4800" b="1" spc="-96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6756883"/>
            <a:ext cx="15068550" cy="27515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중국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「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다보각경」의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영향을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받아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조선식으로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변형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—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책·도자기·향로를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진열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그림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안에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원근법·빛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반사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등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서양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화법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도입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정조는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왕권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강화·백성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교화에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활용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대한제국까지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100년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넘게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소비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상인은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그림만이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아니라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회관·동호회를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만들어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'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문화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=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인맥'으로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삼다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40E9E11-7B56-B370-E30A-E02236C7A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651" y="2800349"/>
            <a:ext cx="4171950" cy="6708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4800" b="1" spc="-96" dirty="0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학문계의 동향</a:t>
            </a:r>
            <a:endParaRPr sz="4800" b="1" spc="-96" dirty="0">
              <a:solidFill>
                <a:srgbClr val="FFFFFF"/>
              </a:solidFill>
              <a:latin typeface="Archivo Black"/>
              <a:ea typeface="Pretendard Black"/>
              <a:cs typeface="Pretendard Blac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"이대로 괜찮은가" — 지식인의 질문이 시작되다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첫 균열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양명학 — '인간은 평등하다'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3252312"/>
            <a:ext cx="12001500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마음이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곧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이치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(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심즉리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),</a:t>
            </a:r>
            <a:endParaRPr lang="en-US" sz="4800" b="1" spc="-96" dirty="0">
              <a:solidFill>
                <a:srgbClr val="0A0A0A"/>
              </a:solidFill>
              <a:latin typeface="Archivo Black"/>
              <a:ea typeface="Pretendard Black"/>
              <a:cs typeface="Pretendard Black"/>
            </a:endParaRPr>
          </a:p>
          <a:p>
            <a:pPr algn="l">
              <a:lnSpc>
                <a:spcPct val="100000"/>
              </a:lnSpc>
            </a:pP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누구나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도덕성을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갖고</a:t>
            </a:r>
            <a:r>
              <a:rPr lang="en-US"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태어난다</a:t>
            </a:r>
            <a:r>
              <a:rPr sz="4800" b="1" spc="-96" dirty="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202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명의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왕수인이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주창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—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지행합일의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실천을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중시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평등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사상이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사대부·상공업자에게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환영받다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(새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주인공을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설명해준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사상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일본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나카에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도주로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이어져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훗날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막부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타도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무사들에게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불씨가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되다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현실로 내려온 학문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문제의식, 다른 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4" y="5394102"/>
            <a:ext cx="47244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17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4" y="5718932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고증학</a:t>
            </a:r>
            <a:endParaRPr sz="40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7" y="6605104"/>
            <a:ext cx="4724400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경전·역사를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실증적으로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검증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사고전서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』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대편찬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사업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반전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현실에서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멀어짐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br>
              <a:rPr lang="en-US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</a:br>
            <a:r>
              <a:rPr lang="en-US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   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→ 19c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공양학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등장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 rot="6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60000">
            <a:off x="6525291" y="2915071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 rot="60000">
            <a:off x="6824605" y="3143623"/>
            <a:ext cx="47244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17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60000">
            <a:off x="6817790" y="3468632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실학 · 국학</a:t>
            </a:r>
          </a:p>
        </p:txBody>
      </p:sp>
      <p:sp>
        <p:nvSpPr>
          <p:cNvPr id="15" name="TextBox 14"/>
          <p:cNvSpPr txBox="1"/>
          <p:nvPr/>
        </p:nvSpPr>
        <p:spPr>
          <a:xfrm rot="60000">
            <a:off x="6773820" y="4519602"/>
            <a:ext cx="4724400" cy="1760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이익·정약용: 토지 개혁론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상공업 진흥·기술·양반제 개혁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국학: 「대동여지도」 『발해고』</a:t>
            </a:r>
          </a:p>
        </p:txBody>
      </p:sp>
      <p:sp>
        <p:nvSpPr>
          <p:cNvPr id="16" name="Rectangle 15"/>
          <p:cNvSpPr/>
          <p:nvPr/>
        </p:nvSpPr>
        <p:spPr>
          <a:xfrm rot="21480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21480000">
            <a:off x="11943032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 rot="21480000">
            <a:off x="12258802" y="3144744"/>
            <a:ext cx="47244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17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21480000">
            <a:off x="12272432" y="3469574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고학 · 국학</a:t>
            </a:r>
          </a:p>
        </p:txBody>
      </p:sp>
      <p:sp>
        <p:nvSpPr>
          <p:cNvPr id="20" name="TextBox 19"/>
          <p:cNvSpPr txBox="1"/>
          <p:nvPr/>
        </p:nvSpPr>
        <p:spPr>
          <a:xfrm rot="21480000">
            <a:off x="12360356" y="4519393"/>
            <a:ext cx="4724400" cy="1760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고학파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공자·맹자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원형으로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국학파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일본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신화·역사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연구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1" dirty="0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위험한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방향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일본</a:t>
            </a:r>
            <a:r>
              <a:rPr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우월·천황주의</a:t>
            </a:r>
            <a:endParaRPr sz="2400" b="1" dirty="0">
              <a:solidFill>
                <a:srgbClr val="475569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085FE9-5DA1-111E-B9FB-6CABC3DB6750}"/>
              </a:ext>
            </a:extLst>
          </p:cNvPr>
          <p:cNvSpPr txBox="1"/>
          <p:nvPr/>
        </p:nvSpPr>
        <p:spPr>
          <a:xfrm rot="21480000">
            <a:off x="1065961" y="3208260"/>
            <a:ext cx="47244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17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명 말</a:t>
            </a:r>
            <a:endParaRPr sz="1417" b="1" dirty="0">
              <a:solidFill>
                <a:srgbClr val="FF5A36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ECFF10-C57B-284C-E17D-0F51F80FAF08}"/>
              </a:ext>
            </a:extLst>
          </p:cNvPr>
          <p:cNvSpPr txBox="1"/>
          <p:nvPr/>
        </p:nvSpPr>
        <p:spPr>
          <a:xfrm rot="21480000">
            <a:off x="1079591" y="3533090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경세치용</a:t>
            </a:r>
            <a:r>
              <a:rPr lang="en-US" altLang="ko-KR"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lang="ko-KR" altLang="en-US"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실사구시</a:t>
            </a:r>
            <a:endParaRPr sz="40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ED18D-4805-DC76-EFE0-2DDA602BF859}"/>
              </a:ext>
            </a:extLst>
          </p:cNvPr>
          <p:cNvSpPr txBox="1"/>
          <p:nvPr/>
        </p:nvSpPr>
        <p:spPr>
          <a:xfrm rot="21480000">
            <a:off x="1090929" y="4188189"/>
            <a:ext cx="4724400" cy="49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lang="ko-KR" altLang="en-US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농학</a:t>
            </a:r>
            <a:r>
              <a:rPr lang="en-US" altLang="ko-KR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지리학</a:t>
            </a:r>
            <a:r>
              <a:rPr lang="en-US" altLang="ko-KR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역법 연구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갈림길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'서양'이라는 시험지, 세 나라의 다른 답안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서학 수용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시험지, 답안이 갈리다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914650"/>
            <a:ext cx="16459200" cy="571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143000" y="30670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dirty="0" err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기준</a:t>
            </a:r>
            <a:endParaRPr sz="2000" b="1" dirty="0">
              <a:solidFill>
                <a:srgbClr val="FFFFFF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7640" y="30670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청 (중국)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0670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87350" y="30670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일본 (에도)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147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7147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취미·호기심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7147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학문(서학)으로 수용 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87350" y="37147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막부가 직접 제도화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71950"/>
            <a:ext cx="1645920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143000" y="44005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창구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44005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선교사 (아담 샬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4005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베이징 왕래 사신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87350" y="4400550"/>
            <a:ext cx="38100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네덜란드 — 난학(蘭學)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863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걸림돌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50863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중화사상 · 포교금지(1723)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863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주창자 지위 낮음 · 천주교 탄압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87350" y="50863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합리주의·시민사상 확산 → 탄압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43550"/>
            <a:ext cx="1645920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143000" y="57721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57721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근본 변화 못 이룸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7721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교류를 철저히 차단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87350" y="5772150"/>
            <a:ext cx="381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난학 대중화 (『해체신서』 1774)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한 문장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왜 운명이 갈렸는가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9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90000">
            <a:off x="986831" y="2915598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 rot="90000">
            <a:off x="1283403" y="3060167"/>
            <a:ext cx="47244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90000">
            <a:off x="1273181" y="3501031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가졌으나 안 썼다</a:t>
            </a:r>
          </a:p>
        </p:txBody>
      </p:sp>
      <p:sp>
        <p:nvSpPr>
          <p:cNvPr id="10" name="TextBox 9"/>
          <p:cNvSpPr txBox="1"/>
          <p:nvPr/>
        </p:nvSpPr>
        <p:spPr>
          <a:xfrm rot="90000">
            <a:off x="1207232" y="4683907"/>
            <a:ext cx="4724400" cy="157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서양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학문을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일찍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접했지만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중화사상에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막혀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취미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수준에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그치고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포교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금지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후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관심마저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식다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 rot="21534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21534000">
            <a:off x="6423880" y="2915159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 rot="21534000">
            <a:off x="6734714" y="3059779"/>
            <a:ext cx="47244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534000">
            <a:off x="6742211" y="3500705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쓰려 했으나 못 썼다</a:t>
            </a:r>
          </a:p>
        </p:txBody>
      </p:sp>
      <p:sp>
        <p:nvSpPr>
          <p:cNvPr id="15" name="TextBox 14"/>
          <p:cNvSpPr txBox="1"/>
          <p:nvPr/>
        </p:nvSpPr>
        <p:spPr>
          <a:xfrm rot="21534000">
            <a:off x="6790578" y="4414674"/>
            <a:ext cx="4724400" cy="2116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박제가·정약용이 구체적 제안까지 냈으나, 관직 없는 이들의 주장이라 실현 못 하고 천주교와 함께 탄압되다.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120000">
            <a:off x="12136167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 rot="120000">
            <a:off x="12429997" y="3060821"/>
            <a:ext cx="47244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120000">
            <a:off x="12416368" y="3501581"/>
            <a:ext cx="4724400" cy="646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위에서부터</a:t>
            </a:r>
            <a:r>
              <a:rPr sz="4000" b="1" dirty="0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받았다</a:t>
            </a:r>
            <a:endParaRPr sz="4000" b="1" dirty="0">
              <a:solidFill>
                <a:srgbClr val="0A0A0A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 rot="120000">
            <a:off x="12328444" y="4683785"/>
            <a:ext cx="4724400" cy="157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종교는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막되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네덜란드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창구로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학문은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수용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.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막부가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난학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교습소를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세워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제도로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받아들이다</a:t>
            </a:r>
            <a:r>
              <a:rPr sz="2800" b="1" dirty="0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역량 기르기 · 토론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spc="-72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만약 조선이 서학을 적극 받아들였다면?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아이디어는 있었으나, 권력이 없었다.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202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박제가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선교사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초빙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·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기술자를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베이징에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파견해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배우게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하자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정약용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역관·기술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전문가를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중국에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유학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보내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돌아오면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지방관으로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등용하자</a:t>
            </a:r>
            <a:endParaRPr sz="2800" b="1" dirty="0">
              <a:solidFill>
                <a:srgbClr val="334155"/>
              </a:solidFill>
              <a:latin typeface="Archivo Black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800" b="1" dirty="0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토론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: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정부가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이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제안을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받아들였다면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,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이후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조선의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운명은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어떻게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800" b="1" dirty="0" err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바뀌었을까</a:t>
            </a:r>
            <a:r>
              <a:rPr sz="2800" b="1" dirty="0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맺으며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14650"/>
            <a:ext cx="150685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 dirty="0" err="1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단어가</a:t>
            </a:r>
            <a:r>
              <a:rPr sz="4800" b="1" spc="-96" dirty="0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 </a:t>
            </a:r>
            <a:r>
              <a:rPr sz="4800" b="1" spc="-96" dirty="0" err="1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아니라</a:t>
            </a:r>
            <a:r>
              <a:rPr sz="4800" b="1" spc="-96" dirty="0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, </a:t>
            </a:r>
            <a:r>
              <a:rPr lang="ko-KR" altLang="en-US" sz="4800" b="1" spc="-96" dirty="0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흐름을 기억하자</a:t>
            </a:r>
            <a:endParaRPr sz="4800" b="1" spc="-96" dirty="0">
              <a:solidFill>
                <a:srgbClr val="FFFFFF"/>
              </a:solidFill>
              <a:latin typeface="Archivo Black"/>
              <a:ea typeface="Pretendard Black"/>
              <a:cs typeface="Pretendard Blac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219700"/>
            <a:ext cx="16672560" cy="443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상공업이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서민을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키웠고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서민이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문화를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바꿨고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→ 그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변화가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학문의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각성으로</a:t>
            </a:r>
            <a:r>
              <a:rPr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 → </a:t>
            </a:r>
            <a:r>
              <a:rPr lang="ko-KR" altLang="en-US" sz="2400" b="1" dirty="0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그리고 서양 학문에 대해 서로 다른 결론을 내린다</a:t>
            </a:r>
            <a:endParaRPr sz="2400" b="1" dirty="0">
              <a:solidFill>
                <a:srgbClr val="CBD5E1"/>
              </a:solidFill>
              <a:latin typeface="Archivo Black"/>
              <a:ea typeface="Pretendard"/>
              <a:cs typeface="Pretendar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7524749"/>
            <a:ext cx="5334000" cy="100012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그 답의 차이가 19세기의 운명을 갈랐다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1005</Words>
  <Application>Microsoft Office PowerPoint</Application>
  <PresentationFormat>사용자 지정</PresentationFormat>
  <Paragraphs>188</Paragraphs>
  <Slides>21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Archivo Black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용천 김</cp:lastModifiedBy>
  <cp:revision>2</cp:revision>
  <dcterms:created xsi:type="dcterms:W3CDTF">2013-01-27T09:14:16Z</dcterms:created>
  <dcterms:modified xsi:type="dcterms:W3CDTF">2026-06-10T04:57:53Z</dcterms:modified>
  <cp:category/>
</cp:coreProperties>
</file>