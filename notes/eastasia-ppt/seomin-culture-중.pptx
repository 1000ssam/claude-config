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62125"/>
            <a:ext cx="10896600" cy="1000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B5A5"/>
                </a:solidFill>
                <a:latin typeface="Archivo Black"/>
                <a:ea typeface="Pretendard"/>
                <a:cs typeface="Pretendard"/>
              </a:rPr>
              <a:t>동아시아사 · 대주제 3 · 주제 9</a:t>
            </a:r>
          </a:p>
        </p:txBody>
      </p:sp>
      <p:sp>
        <p:nvSpPr>
          <p:cNvPr id="5" name="Rectangle 4"/>
          <p:cNvSpPr/>
          <p:nvPr/>
        </p:nvSpPr>
        <p:spPr>
          <a:xfrm rot="21480000">
            <a:off x="647700" y="2914650"/>
            <a:ext cx="4079974" cy="2133600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 rot="21480000">
            <a:off x="914400" y="3181350"/>
            <a:ext cx="3546574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spc="-12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사회 변동과</a:t>
            </a:r>
          </a:p>
          <a:p>
            <a:pPr algn="l">
              <a:lnSpc>
                <a:spcPct val="100000"/>
              </a:lnSpc>
            </a:pPr>
            <a:r>
              <a:rPr sz="6000" b="1" spc="-12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서민 문화</a:t>
            </a:r>
          </a:p>
        </p:txBody>
      </p:sp>
      <p:sp>
        <p:nvSpPr>
          <p:cNvPr id="7" name="Rectangle 6"/>
          <p:cNvSpPr/>
          <p:nvPr/>
        </p:nvSpPr>
        <p:spPr>
          <a:xfrm rot="90000">
            <a:off x="914399" y="6372224"/>
            <a:ext cx="6192440" cy="866775"/>
          </a:xfrm>
          <a:prstGeom prst="rect">
            <a:avLst/>
          </a:prstGeom>
          <a:solidFill>
            <a:srgbClr val="FF5A36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520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17~19세기, 무대 앞으로 걸어 나온 새로운 주인공들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8677275"/>
            <a:ext cx="12287250" cy="1000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60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명·청 · 조선 · 에도 일본 비교사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64592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들어가며 · 관통하는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52500"/>
            <a:ext cx="15068550" cy="2152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16" b="1" spc="-76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문화를 누리는 사람이 바뀌면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38324"/>
            <a:ext cx="164592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2971800"/>
            <a:ext cx="57150" cy="2038349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0150" y="2914650"/>
            <a:ext cx="12001500" cy="2152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spc="-96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문화도 바뀐다.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9700"/>
            <a:ext cx="15068550" cy="3305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43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430" b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상공업과 도시가 발달하자 상인·농민·중인·조닌이 무대 앞으로 등장했다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43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430" b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오늘 볼 공연·소설·그림·학문의 변화는 전부 '이 새로운 주인공의 등장'에서 시작된다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43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430" b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외울 것은 단어가 아니라, 그것들이 왜 그 순서로 나타났는가라는 흐름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64592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한눈에 보는 전체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52500"/>
            <a:ext cx="15068550" cy="2152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16" b="1" spc="-76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원동력 하나, 네 개의 장(章)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38324"/>
            <a:ext cx="164592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 rot="21480000">
            <a:off x="921048" y="4448058"/>
            <a:ext cx="2865120" cy="2924175"/>
          </a:xfrm>
          <a:prstGeom prst="rect">
            <a:avLst/>
          </a:prstGeom>
          <a:solidFill>
            <a:srgbClr val="FFE14D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1480000">
            <a:off x="1995122" y="4067996"/>
            <a:ext cx="609600" cy="6096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186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 rot="21480000">
            <a:off x="1088445" y="4981862"/>
            <a:ext cx="248412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20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원동력</a:t>
            </a:r>
          </a:p>
        </p:txBody>
      </p:sp>
      <p:sp>
        <p:nvSpPr>
          <p:cNvPr id="9" name="TextBox 8"/>
          <p:cNvSpPr txBox="1"/>
          <p:nvPr/>
        </p:nvSpPr>
        <p:spPr>
          <a:xfrm rot="21480000">
            <a:off x="1124845" y="5590826"/>
            <a:ext cx="2484120" cy="1400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50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상공업·도시 발달 → 서민의 성장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55720" y="5910262"/>
            <a:ext cx="3429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4170045" y="5824537"/>
            <a:ext cx="171450" cy="171450"/>
          </a:xfrm>
          <a:prstGeom prst="triangl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90000">
            <a:off x="4307933" y="4448109"/>
            <a:ext cx="2865120" cy="2924175"/>
          </a:xfrm>
          <a:prstGeom prst="rect">
            <a:avLst/>
          </a:prstGeom>
          <a:solidFill>
            <a:srgbClr val="FFE14D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90000">
            <a:off x="5475960" y="4067636"/>
            <a:ext cx="609600" cy="6096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186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 rot="90000">
            <a:off x="4515762" y="4981736"/>
            <a:ext cx="248412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20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1막 · 무대</a:t>
            </a:r>
          </a:p>
        </p:txBody>
      </p:sp>
      <p:sp>
        <p:nvSpPr>
          <p:cNvPr id="15" name="TextBox 14"/>
          <p:cNvSpPr txBox="1"/>
          <p:nvPr/>
        </p:nvSpPr>
        <p:spPr>
          <a:xfrm rot="90000">
            <a:off x="4488459" y="5590979"/>
            <a:ext cx="2484120" cy="1400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50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공연·대중문학·교육의 확산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54240" y="5910262"/>
            <a:ext cx="3429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7568565" y="5824537"/>
            <a:ext cx="171450" cy="171450"/>
          </a:xfrm>
          <a:prstGeom prst="triangl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1534000">
            <a:off x="7715097" y="4448139"/>
            <a:ext cx="2865120" cy="2924175"/>
          </a:xfrm>
          <a:prstGeom prst="rect">
            <a:avLst/>
          </a:prstGeom>
          <a:solidFill>
            <a:srgbClr val="FFE14D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1534000">
            <a:off x="8813325" y="4067423"/>
            <a:ext cx="609600" cy="6096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186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 rot="21534000">
            <a:off x="7892888" y="4981661"/>
            <a:ext cx="248412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20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2막 · 그림</a:t>
            </a:r>
          </a:p>
        </p:txBody>
      </p:sp>
      <p:sp>
        <p:nvSpPr>
          <p:cNvPr id="21" name="TextBox 20"/>
          <p:cNvSpPr txBox="1"/>
          <p:nvPr/>
        </p:nvSpPr>
        <p:spPr>
          <a:xfrm rot="21534000">
            <a:off x="7912911" y="5591069"/>
            <a:ext cx="2484120" cy="1400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50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민간 회화가 생활 속으로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652760" y="5910262"/>
            <a:ext cx="3429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10967085" y="5824537"/>
            <a:ext cx="171450" cy="171450"/>
          </a:xfrm>
          <a:prstGeom prst="triangl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120000">
            <a:off x="11103311" y="4448058"/>
            <a:ext cx="2865120" cy="2924175"/>
          </a:xfrm>
          <a:prstGeom prst="rect">
            <a:avLst/>
          </a:prstGeom>
          <a:solidFill>
            <a:srgbClr val="FFE14D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120000">
            <a:off x="12284757" y="4067996"/>
            <a:ext cx="609600" cy="6096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186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 rot="120000">
            <a:off x="11316914" y="4981862"/>
            <a:ext cx="248412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20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3막 · 학문</a:t>
            </a:r>
          </a:p>
        </p:txBody>
      </p:sp>
      <p:sp>
        <p:nvSpPr>
          <p:cNvPr id="27" name="TextBox 26"/>
          <p:cNvSpPr txBox="1"/>
          <p:nvPr/>
        </p:nvSpPr>
        <p:spPr>
          <a:xfrm rot="120000">
            <a:off x="11280514" y="5590826"/>
            <a:ext cx="2484120" cy="1400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50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'이대로 괜찮은가'라는 각성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4051280" y="5910262"/>
            <a:ext cx="3429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5400000">
            <a:off x="14365605" y="5824537"/>
            <a:ext cx="171450" cy="171450"/>
          </a:xfrm>
          <a:prstGeom prst="triangl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1498000">
            <a:off x="14514131" y="4448091"/>
            <a:ext cx="2865120" cy="2924175"/>
          </a:xfrm>
          <a:prstGeom prst="rect">
            <a:avLst/>
          </a:prstGeom>
          <a:solidFill>
            <a:srgbClr val="FF5A36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 rot="21498000">
            <a:off x="15596256" y="4067768"/>
            <a:ext cx="609600" cy="6096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186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 rot="21498000">
            <a:off x="14684992" y="4981782"/>
            <a:ext cx="248412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20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4막 · 갈림길</a:t>
            </a:r>
          </a:p>
        </p:txBody>
      </p:sp>
      <p:sp>
        <p:nvSpPr>
          <p:cNvPr id="33" name="TextBox 32"/>
          <p:cNvSpPr txBox="1"/>
          <p:nvPr/>
        </p:nvSpPr>
        <p:spPr>
          <a:xfrm rot="21498000">
            <a:off x="14715934" y="5590923"/>
            <a:ext cx="2484120" cy="1400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50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서양 수용, 세 나라의 다른 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62125"/>
            <a:ext cx="2552700" cy="1000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spc="-96">
                <a:solidFill>
                  <a:srgbClr val="FFB5A5"/>
                </a:solidFill>
                <a:latin typeface="Archivo Black"/>
                <a:ea typeface="Pretendard Black"/>
                <a:cs typeface="Pretendard Black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67175"/>
            <a:ext cx="13677900" cy="2152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spc="-96">
                <a:solidFill>
                  <a:srgbClr val="FFFFFF"/>
                </a:solidFill>
                <a:latin typeface="Archivo Black"/>
                <a:ea typeface="Pretendard Black"/>
                <a:cs typeface="Pretendard Black"/>
              </a:rPr>
              <a:t>무대 위로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372225"/>
            <a:ext cx="10896600" cy="1000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30" b="1">
                <a:solidFill>
                  <a:srgbClr val="CBD5E1"/>
                </a:solidFill>
                <a:latin typeface="Archivo Black"/>
                <a:ea typeface="Pretendard"/>
                <a:cs typeface="Pretendard"/>
              </a:rPr>
              <a:t>서민이 즐긴 공연과 이야기, 그리고 배움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64592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1막 · 공연문화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52500"/>
            <a:ext cx="15068550" cy="2152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16" b="1" spc="-76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새 주인공은 먼저 '재미'를 요구했다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38324"/>
            <a:ext cx="164592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 rot="72000">
            <a:off x="914399" y="2914649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72000">
            <a:off x="972347" y="2915256"/>
            <a:ext cx="5334000" cy="7620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 rot="72000">
            <a:off x="1270565" y="3143787"/>
            <a:ext cx="4724400" cy="247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청</a:t>
            </a:r>
          </a:p>
        </p:txBody>
      </p:sp>
      <p:sp>
        <p:nvSpPr>
          <p:cNvPr id="9" name="TextBox 8"/>
          <p:cNvSpPr txBox="1"/>
          <p:nvPr/>
        </p:nvSpPr>
        <p:spPr>
          <a:xfrm rot="72000">
            <a:off x="1262386" y="3448502"/>
            <a:ext cx="47244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186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경극</a:t>
            </a:r>
          </a:p>
        </p:txBody>
      </p:sp>
      <p:sp>
        <p:nvSpPr>
          <p:cNvPr id="10" name="TextBox 9"/>
          <p:cNvSpPr txBox="1"/>
          <p:nvPr/>
        </p:nvSpPr>
        <p:spPr>
          <a:xfrm rot="72000">
            <a:off x="1209625" y="3981349"/>
            <a:ext cx="4724400" cy="4391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25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노래·춤·무술·곡예의 종합 예술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25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각본은 누구나 아는 역사·전설에서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25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'베이징 오페라'로 불림</a:t>
            </a:r>
          </a:p>
        </p:txBody>
      </p:sp>
      <p:sp>
        <p:nvSpPr>
          <p:cNvPr id="11" name="Rectangle 10"/>
          <p:cNvSpPr/>
          <p:nvPr/>
        </p:nvSpPr>
        <p:spPr>
          <a:xfrm rot="21480000">
            <a:off x="6477000" y="2914649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1480000">
            <a:off x="6380432" y="2916335"/>
            <a:ext cx="5334000" cy="762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 rot="21480000">
            <a:off x="6696202" y="3144744"/>
            <a:ext cx="4724400" cy="247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조선</a:t>
            </a:r>
          </a:p>
        </p:txBody>
      </p:sp>
      <p:sp>
        <p:nvSpPr>
          <p:cNvPr id="14" name="TextBox 13"/>
          <p:cNvSpPr txBox="1"/>
          <p:nvPr/>
        </p:nvSpPr>
        <p:spPr>
          <a:xfrm rot="21480000">
            <a:off x="6709831" y="3449306"/>
            <a:ext cx="47244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186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판소리 · 탈춤</a:t>
            </a:r>
          </a:p>
        </p:txBody>
      </p:sp>
      <p:sp>
        <p:nvSpPr>
          <p:cNvPr id="15" name="TextBox 14"/>
          <p:cNvSpPr txBox="1"/>
          <p:nvPr/>
        </p:nvSpPr>
        <p:spPr>
          <a:xfrm rot="21480000">
            <a:off x="6797756" y="3981171"/>
            <a:ext cx="4724400" cy="4391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250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판소리: 권선징악·정절을 노래로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250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탈춤·산대놀이: 양반의 위선 풍자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250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문화가 '발언'이 되기 시작</a:t>
            </a:r>
          </a:p>
        </p:txBody>
      </p:sp>
      <p:sp>
        <p:nvSpPr>
          <p:cNvPr id="16" name="Rectangle 15"/>
          <p:cNvSpPr/>
          <p:nvPr/>
        </p:nvSpPr>
        <p:spPr>
          <a:xfrm rot="60000">
            <a:off x="12039599" y="2914650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60000">
            <a:off x="12087891" y="2915071"/>
            <a:ext cx="5334000" cy="76200"/>
          </a:xfrm>
          <a:prstGeom prst="rect">
            <a:avLst/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 rot="60000">
            <a:off x="12387205" y="3143623"/>
            <a:ext cx="4724400" cy="247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1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에도</a:t>
            </a:r>
          </a:p>
        </p:txBody>
      </p:sp>
      <p:sp>
        <p:nvSpPr>
          <p:cNvPr id="19" name="TextBox 18"/>
          <p:cNvSpPr txBox="1"/>
          <p:nvPr/>
        </p:nvSpPr>
        <p:spPr>
          <a:xfrm rot="60000">
            <a:off x="12380389" y="3448364"/>
            <a:ext cx="47244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186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가부키</a:t>
            </a:r>
          </a:p>
        </p:txBody>
      </p:sp>
      <p:sp>
        <p:nvSpPr>
          <p:cNvPr id="20" name="TextBox 19"/>
          <p:cNvSpPr txBox="1"/>
          <p:nvPr/>
        </p:nvSpPr>
        <p:spPr>
          <a:xfrm rot="60000">
            <a:off x="12336420" y="3981380"/>
            <a:ext cx="4724400" cy="4391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250" b="1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전통 악기 반주 + 대사·춤 연기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250" b="1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회전 무대·비밀문 등 특수 연출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250" b="1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기술로 서민의 눈을 사로잡다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64592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1막 · 대중문학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52500"/>
            <a:ext cx="15068550" cy="2152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16" b="1" spc="-76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소재가 '서민의 삶' 그 자체가 되다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38324"/>
            <a:ext cx="164592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 rot="21480000">
            <a:off x="914400" y="2914649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1480000">
            <a:off x="817832" y="2916335"/>
            <a:ext cx="5334000" cy="7620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 rot="21480000">
            <a:off x="1133602" y="3144744"/>
            <a:ext cx="4724400" cy="247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명·청</a:t>
            </a:r>
          </a:p>
        </p:txBody>
      </p:sp>
      <p:sp>
        <p:nvSpPr>
          <p:cNvPr id="9" name="TextBox 8"/>
          <p:cNvSpPr txBox="1"/>
          <p:nvPr/>
        </p:nvSpPr>
        <p:spPr>
          <a:xfrm rot="21480000">
            <a:off x="1147231" y="3449306"/>
            <a:ext cx="47244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186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출판의 황금기</a:t>
            </a:r>
          </a:p>
        </p:txBody>
      </p:sp>
      <p:sp>
        <p:nvSpPr>
          <p:cNvPr id="10" name="TextBox 9"/>
          <p:cNvSpPr txBox="1"/>
          <p:nvPr/>
        </p:nvSpPr>
        <p:spPr>
          <a:xfrm rot="21480000">
            <a:off x="1235156" y="3981171"/>
            <a:ext cx="4724400" cy="4391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25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『삼국지연의』 『홍루몽』 등 소설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25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실용서·희곡도 인기</a:t>
            </a:r>
          </a:p>
        </p:txBody>
      </p:sp>
      <p:sp>
        <p:nvSpPr>
          <p:cNvPr id="11" name="Rectangle 10"/>
          <p:cNvSpPr/>
          <p:nvPr/>
        </p:nvSpPr>
        <p:spPr>
          <a:xfrm rot="90000">
            <a:off x="6476999" y="2914649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90000">
            <a:off x="6549431" y="2915598"/>
            <a:ext cx="5334000" cy="762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 rot="90000">
            <a:off x="6846003" y="3144090"/>
            <a:ext cx="4724400" cy="247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조선</a:t>
            </a:r>
          </a:p>
        </p:txBody>
      </p:sp>
      <p:sp>
        <p:nvSpPr>
          <p:cNvPr id="14" name="TextBox 13"/>
          <p:cNvSpPr txBox="1"/>
          <p:nvPr/>
        </p:nvSpPr>
        <p:spPr>
          <a:xfrm rot="90000">
            <a:off x="6835781" y="3448756"/>
            <a:ext cx="47244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186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한글 소설</a:t>
            </a:r>
          </a:p>
        </p:txBody>
      </p:sp>
      <p:sp>
        <p:nvSpPr>
          <p:cNvPr id="15" name="TextBox 14"/>
          <p:cNvSpPr txBox="1"/>
          <p:nvPr/>
        </p:nvSpPr>
        <p:spPr>
          <a:xfrm rot="90000">
            <a:off x="6769831" y="3981293"/>
            <a:ext cx="4724400" cy="4391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250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『홍길동전』 — 양반 사회 모순 비판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250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중인·서얼 문인의 시집 간행</a:t>
            </a:r>
          </a:p>
        </p:txBody>
      </p:sp>
      <p:sp>
        <p:nvSpPr>
          <p:cNvPr id="16" name="Rectangle 15"/>
          <p:cNvSpPr/>
          <p:nvPr/>
        </p:nvSpPr>
        <p:spPr>
          <a:xfrm rot="21534000">
            <a:off x="12039600" y="2914649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1534000">
            <a:off x="11986480" y="2915159"/>
            <a:ext cx="5334000" cy="76200"/>
          </a:xfrm>
          <a:prstGeom prst="rect">
            <a:avLst/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 rot="21534000">
            <a:off x="12297314" y="3143701"/>
            <a:ext cx="4724400" cy="247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1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에도</a:t>
            </a:r>
          </a:p>
        </p:txBody>
      </p:sp>
      <p:sp>
        <p:nvSpPr>
          <p:cNvPr id="19" name="TextBox 18"/>
          <p:cNvSpPr txBox="1"/>
          <p:nvPr/>
        </p:nvSpPr>
        <p:spPr>
          <a:xfrm rot="21534000">
            <a:off x="12304811" y="3448430"/>
            <a:ext cx="47244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186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조닌 문학</a:t>
            </a:r>
          </a:p>
        </p:txBody>
      </p:sp>
      <p:sp>
        <p:nvSpPr>
          <p:cNvPr id="20" name="TextBox 19"/>
          <p:cNvSpPr txBox="1"/>
          <p:nvPr/>
        </p:nvSpPr>
        <p:spPr>
          <a:xfrm rot="21534000">
            <a:off x="12353177" y="3981365"/>
            <a:ext cx="4724400" cy="4391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250" b="1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『일본영대장』 — 애정·조닌의 일상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250" b="1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19세기 책 대여점 증가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64592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1막 · 교육의 확산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52500"/>
            <a:ext cx="15068550" cy="2152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16" b="1" spc="-76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즐기려는 욕구가 배우려는 욕구를 낳았다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38324"/>
            <a:ext cx="164592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2971800"/>
            <a:ext cx="57150" cy="2038349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0150" y="2914650"/>
            <a:ext cx="12001500" cy="2152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spc="-96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책을 즐기려면, 글을 읽을 수 있어야 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9700"/>
            <a:ext cx="15068550" cy="3305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43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430" b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청: 인쇄술 발달 → 서원 등에서 서민이 새 지식을 배움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43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430" b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조선: 부를 쌓은 평민이 서당을 직접 경영, 실용 교재 출판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43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430" b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에도: 읽기·쓰기·셈을 가르치는 데라코야 — 여학생에겐 그림·다도·바느질까지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62125"/>
            <a:ext cx="2552700" cy="1000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spc="-96">
                <a:solidFill>
                  <a:srgbClr val="FFB5A5"/>
                </a:solidFill>
                <a:latin typeface="Archivo Black"/>
                <a:ea typeface="Pretendard Black"/>
                <a:cs typeface="Pretendard Black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67175"/>
            <a:ext cx="13677900" cy="2152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spc="-96">
                <a:solidFill>
                  <a:srgbClr val="FFFFFF"/>
                </a:solidFill>
                <a:latin typeface="Archivo Black"/>
                <a:ea typeface="Pretendard Black"/>
                <a:cs typeface="Pretendard Black"/>
              </a:rPr>
              <a:t>벽에 걸린 그림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372225"/>
            <a:ext cx="10896600" cy="1000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30" b="1">
                <a:solidFill>
                  <a:srgbClr val="CBD5E1"/>
                </a:solidFill>
                <a:latin typeface="Archivo Black"/>
                <a:ea typeface="Pretendard"/>
                <a:cs typeface="Pretendard"/>
              </a:rPr>
              <a:t>미술관이 아니라 집 안 벽으로 들어온 예술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64592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2막 · 민간 회화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52500"/>
            <a:ext cx="15068550" cy="2152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16" b="1" spc="-76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세 나라가 약속한 듯 비슷한 그림을 갖다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38324"/>
            <a:ext cx="164592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 rot="120000">
            <a:off x="914399" y="2914649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20000">
            <a:off x="1010967" y="2916335"/>
            <a:ext cx="5334000" cy="7620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 rot="120000">
            <a:off x="1304797" y="3144744"/>
            <a:ext cx="4724400" cy="247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중국</a:t>
            </a:r>
          </a:p>
        </p:txBody>
      </p:sp>
      <p:sp>
        <p:nvSpPr>
          <p:cNvPr id="9" name="TextBox 8"/>
          <p:cNvSpPr txBox="1"/>
          <p:nvPr/>
        </p:nvSpPr>
        <p:spPr>
          <a:xfrm rot="120000">
            <a:off x="1291168" y="3449306"/>
            <a:ext cx="47244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186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연화(年畫)</a:t>
            </a:r>
          </a:p>
        </p:txBody>
      </p:sp>
      <p:sp>
        <p:nvSpPr>
          <p:cNvPr id="10" name="TextBox 9"/>
          <p:cNvSpPr txBox="1"/>
          <p:nvPr/>
        </p:nvSpPr>
        <p:spPr>
          <a:xfrm rot="120000">
            <a:off x="1203243" y="3981171"/>
            <a:ext cx="4724400" cy="4391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25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정월에 집집마다 붙이는 그림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25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판화로 대량 복제</a:t>
            </a:r>
          </a:p>
        </p:txBody>
      </p:sp>
      <p:sp>
        <p:nvSpPr>
          <p:cNvPr id="11" name="Rectangle 10"/>
          <p:cNvSpPr/>
          <p:nvPr/>
        </p:nvSpPr>
        <p:spPr>
          <a:xfrm rot="21498000">
            <a:off x="6477000" y="2914649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1498000">
            <a:off x="6394913" y="2915867"/>
            <a:ext cx="5334000" cy="762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 rot="21498000">
            <a:off x="6709037" y="3144329"/>
            <a:ext cx="4724400" cy="247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조선</a:t>
            </a:r>
          </a:p>
        </p:txBody>
      </p:sp>
      <p:sp>
        <p:nvSpPr>
          <p:cNvPr id="14" name="TextBox 13"/>
          <p:cNvSpPr txBox="1"/>
          <p:nvPr/>
        </p:nvSpPr>
        <p:spPr>
          <a:xfrm rot="21498000">
            <a:off x="6720623" y="3448957"/>
            <a:ext cx="47244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186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민화(民畫)</a:t>
            </a:r>
          </a:p>
        </p:txBody>
      </p:sp>
      <p:sp>
        <p:nvSpPr>
          <p:cNvPr id="15" name="TextBox 14"/>
          <p:cNvSpPr txBox="1"/>
          <p:nvPr/>
        </p:nvSpPr>
        <p:spPr>
          <a:xfrm rot="21498000">
            <a:off x="6795363" y="3981248"/>
            <a:ext cx="4724400" cy="4391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250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까치호랑이 등 생활공간 장식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250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벽사(잡귀 쫓음)·길상(복 기원)</a:t>
            </a:r>
          </a:p>
        </p:txBody>
      </p:sp>
      <p:sp>
        <p:nvSpPr>
          <p:cNvPr id="16" name="Rectangle 15"/>
          <p:cNvSpPr/>
          <p:nvPr/>
        </p:nvSpPr>
        <p:spPr>
          <a:xfrm rot="72000">
            <a:off x="12039599" y="2914650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72000">
            <a:off x="12097547" y="2915256"/>
            <a:ext cx="5334000" cy="76200"/>
          </a:xfrm>
          <a:prstGeom prst="rect">
            <a:avLst/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 rot="72000">
            <a:off x="12395765" y="3143787"/>
            <a:ext cx="4724400" cy="247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1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일본</a:t>
            </a:r>
          </a:p>
        </p:txBody>
      </p:sp>
      <p:sp>
        <p:nvSpPr>
          <p:cNvPr id="19" name="TextBox 18"/>
          <p:cNvSpPr txBox="1"/>
          <p:nvPr/>
        </p:nvSpPr>
        <p:spPr>
          <a:xfrm rot="72000">
            <a:off x="12387586" y="3448502"/>
            <a:ext cx="47244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186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우키요에</a:t>
            </a:r>
          </a:p>
        </p:txBody>
      </p:sp>
      <p:sp>
        <p:nvSpPr>
          <p:cNvPr id="20" name="TextBox 19"/>
          <p:cNvSpPr txBox="1"/>
          <p:nvPr/>
        </p:nvSpPr>
        <p:spPr>
          <a:xfrm rot="72000">
            <a:off x="12334825" y="3981349"/>
            <a:ext cx="4724400" cy="4391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250" b="1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대도시 조닌이 즐긴 그림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250" b="1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서민 지위 향상의 산물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64592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2막 · 같은 민간 회화, 다른 제작법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52500"/>
            <a:ext cx="15068550" cy="2152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16" b="1" spc="-76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연화 VS 민화 — '어떻게 만들었나'가 다르다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38324"/>
            <a:ext cx="164592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2914650"/>
            <a:ext cx="8115300" cy="5610225"/>
          </a:xfrm>
          <a:prstGeom prst="roundRect">
            <a:avLst>
              <a:gd name="adj" fmla="val 2716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9200" y="3181350"/>
            <a:ext cx="75057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연화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524250"/>
            <a:ext cx="75057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186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대량생산 굿즈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200" y="4248150"/>
            <a:ext cx="7505700" cy="39909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250" b="1">
                <a:solidFill>
                  <a:srgbClr val="EF4444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250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판화로 제작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250" b="1">
                <a:solidFill>
                  <a:srgbClr val="EF4444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250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대량 복제 가능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250" b="1">
                <a:solidFill>
                  <a:srgbClr val="EF4444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250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정월용 소모품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58300" y="2914650"/>
            <a:ext cx="8115300" cy="5610225"/>
          </a:xfrm>
          <a:prstGeom prst="rect">
            <a:avLst/>
          </a:prstGeom>
          <a:solidFill>
            <a:srgbClr val="FFF3F1"/>
          </a:solidFill>
          <a:ln w="19050">
            <a:solidFill>
              <a:srgbClr val="FF5A36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63100" y="3181350"/>
            <a:ext cx="75057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민화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63100" y="3524250"/>
            <a:ext cx="75057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186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집을 꾸미는 손그림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63100" y="4248150"/>
            <a:ext cx="7505700" cy="39909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250" b="1">
                <a:solidFill>
                  <a:srgbClr val="10B981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250" b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주로 붓으로 직접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250" b="1">
                <a:solidFill>
                  <a:srgbClr val="10B981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250" b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집안 치장 장식용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250" b="1">
                <a:solidFill>
                  <a:srgbClr val="10B981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250" b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자유분방·파격적</a:t>
            </a:r>
          </a:p>
        </p:txBody>
      </p:sp>
      <p:sp>
        <p:nvSpPr>
          <p:cNvPr id="14" name="Oval 13"/>
          <p:cNvSpPr/>
          <p:nvPr/>
        </p:nvSpPr>
        <p:spPr>
          <a:xfrm>
            <a:off x="8801100" y="5376862"/>
            <a:ext cx="6858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520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VS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64592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2막 · 책가도(冊架圖)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52500"/>
            <a:ext cx="15068550" cy="2152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16" b="1" spc="-76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그림 한 장에 시대가 담기다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38324"/>
            <a:ext cx="164592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2971800"/>
            <a:ext cx="57150" cy="2038349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0150" y="2914650"/>
            <a:ext cx="12001500" cy="2152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spc="-96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외래문화 수용 + 신분 상승 욕구 + 정치적 활용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9700"/>
            <a:ext cx="15068550" cy="3305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43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430" b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중국 「다보각경」의 영향을 받아 조선식으로 변형 — 책·도자기·향로를 진열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43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430" b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평면 그림 안에 원근법·빛 반사 등 서양 화법 도입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43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430" b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정조는 왕권 강화·백성 교화에 활용 → 대한제국까지 100년 넘게 소비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43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430" b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상인은 그림만이 아니라 회관·동호회를 만들어 '문화=인맥'으로 삼다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62125"/>
            <a:ext cx="2552700" cy="1000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spc="-96">
                <a:solidFill>
                  <a:srgbClr val="FFB5A5"/>
                </a:solidFill>
                <a:latin typeface="Archivo Black"/>
                <a:ea typeface="Pretendard Black"/>
                <a:cs typeface="Pretendard Black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67175"/>
            <a:ext cx="13677900" cy="2152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spc="-96">
                <a:solidFill>
                  <a:srgbClr val="FFFFFF"/>
                </a:solidFill>
                <a:latin typeface="Archivo Black"/>
                <a:ea typeface="Pretendard Black"/>
                <a:cs typeface="Pretendard Black"/>
              </a:rPr>
              <a:t>머리를 든 학문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372225"/>
            <a:ext cx="10896600" cy="1000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30" b="1">
                <a:solidFill>
                  <a:srgbClr val="CBD5E1"/>
                </a:solidFill>
                <a:latin typeface="Archivo Black"/>
                <a:ea typeface="Pretendard"/>
                <a:cs typeface="Pretendard"/>
              </a:rPr>
              <a:t>"이대로 괜찮은가" — 지식인의 질문이 시작되다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64592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3막 · 첫 균열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52500"/>
            <a:ext cx="15068550" cy="2152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16" b="1" spc="-76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양명학 — '인간은 평등하다'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38324"/>
            <a:ext cx="164592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2971800"/>
            <a:ext cx="57150" cy="2038349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0150" y="2914650"/>
            <a:ext cx="12001500" cy="2152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spc="-96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마음이 곧 이치(심즉리), 누구나 도덕성을 갖고</a:t>
            </a:r>
          </a:p>
          <a:p>
            <a:pPr algn="l">
              <a:lnSpc>
                <a:spcPct val="100000"/>
              </a:lnSpc>
            </a:pPr>
            <a:r>
              <a:rPr sz="4800" b="1" spc="-96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태어난다.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9700"/>
            <a:ext cx="15068550" cy="3305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43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430" b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명의 왕수인이 주창 — 지행합일의 실천을 중시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43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430" b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평등 사상이 사대부·상공업자에게 환영받다 (새 주인공을 설명해준 사상)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43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430" b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일본 나카에 도주로 이어져, 훗날 막부 타도 무사들에게 불씨가 되다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64592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3막 · 현실로 내려온 학문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52500"/>
            <a:ext cx="15068550" cy="2152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16" b="1" spc="-76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같은 문제의식, 다른 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38324"/>
            <a:ext cx="164592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 rot="21480000">
            <a:off x="914400" y="2914649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1480000">
            <a:off x="817832" y="2916335"/>
            <a:ext cx="5334000" cy="7620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 rot="21480000">
            <a:off x="1133602" y="3144744"/>
            <a:ext cx="4724400" cy="247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청</a:t>
            </a:r>
          </a:p>
        </p:txBody>
      </p:sp>
      <p:sp>
        <p:nvSpPr>
          <p:cNvPr id="9" name="TextBox 8"/>
          <p:cNvSpPr txBox="1"/>
          <p:nvPr/>
        </p:nvSpPr>
        <p:spPr>
          <a:xfrm rot="21480000">
            <a:off x="1147231" y="3449306"/>
            <a:ext cx="47244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186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고증학</a:t>
            </a:r>
          </a:p>
        </p:txBody>
      </p:sp>
      <p:sp>
        <p:nvSpPr>
          <p:cNvPr id="10" name="TextBox 9"/>
          <p:cNvSpPr txBox="1"/>
          <p:nvPr/>
        </p:nvSpPr>
        <p:spPr>
          <a:xfrm rot="21480000">
            <a:off x="1235156" y="3981171"/>
            <a:ext cx="4724400" cy="4391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25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경전·역사를 실증적으로 검증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25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『사고전서』 대편찬 사업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25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반전: 현실에서 멀어짐 → 19c 공양학 등장</a:t>
            </a:r>
          </a:p>
        </p:txBody>
      </p:sp>
      <p:sp>
        <p:nvSpPr>
          <p:cNvPr id="11" name="Rectangle 10"/>
          <p:cNvSpPr/>
          <p:nvPr/>
        </p:nvSpPr>
        <p:spPr>
          <a:xfrm rot="60000">
            <a:off x="6476999" y="2914649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60000">
            <a:off x="6525291" y="2915071"/>
            <a:ext cx="5334000" cy="762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 rot="60000">
            <a:off x="6824605" y="3143623"/>
            <a:ext cx="4724400" cy="247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조선</a:t>
            </a:r>
          </a:p>
        </p:txBody>
      </p:sp>
      <p:sp>
        <p:nvSpPr>
          <p:cNvPr id="14" name="TextBox 13"/>
          <p:cNvSpPr txBox="1"/>
          <p:nvPr/>
        </p:nvSpPr>
        <p:spPr>
          <a:xfrm rot="60000">
            <a:off x="6817789" y="3448364"/>
            <a:ext cx="47244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186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실학 · 국학</a:t>
            </a:r>
          </a:p>
        </p:txBody>
      </p:sp>
      <p:sp>
        <p:nvSpPr>
          <p:cNvPr id="15" name="TextBox 14"/>
          <p:cNvSpPr txBox="1"/>
          <p:nvPr/>
        </p:nvSpPr>
        <p:spPr>
          <a:xfrm rot="60000">
            <a:off x="6773820" y="3981380"/>
            <a:ext cx="4724400" cy="4391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250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이익·정약용: 토지 개혁론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250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상공업 진흥·기술·양반제 개혁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250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국학: 「대동여지도」 『발해고』</a:t>
            </a:r>
          </a:p>
        </p:txBody>
      </p:sp>
      <p:sp>
        <p:nvSpPr>
          <p:cNvPr id="16" name="Rectangle 15"/>
          <p:cNvSpPr/>
          <p:nvPr/>
        </p:nvSpPr>
        <p:spPr>
          <a:xfrm rot="21480000">
            <a:off x="12039600" y="2914649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1480000">
            <a:off x="11943032" y="2916335"/>
            <a:ext cx="5334000" cy="76200"/>
          </a:xfrm>
          <a:prstGeom prst="rect">
            <a:avLst/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 rot="21480000">
            <a:off x="12258802" y="3144744"/>
            <a:ext cx="4724400" cy="247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1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에도</a:t>
            </a:r>
          </a:p>
        </p:txBody>
      </p:sp>
      <p:sp>
        <p:nvSpPr>
          <p:cNvPr id="19" name="TextBox 18"/>
          <p:cNvSpPr txBox="1"/>
          <p:nvPr/>
        </p:nvSpPr>
        <p:spPr>
          <a:xfrm rot="21480000">
            <a:off x="12272431" y="3449306"/>
            <a:ext cx="47244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186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고학 · 국학</a:t>
            </a:r>
          </a:p>
        </p:txBody>
      </p:sp>
      <p:sp>
        <p:nvSpPr>
          <p:cNvPr id="20" name="TextBox 19"/>
          <p:cNvSpPr txBox="1"/>
          <p:nvPr/>
        </p:nvSpPr>
        <p:spPr>
          <a:xfrm rot="21480000">
            <a:off x="12360356" y="3981171"/>
            <a:ext cx="4724400" cy="4391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250" b="1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고학파: 공자·맹자 원형으로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250" b="1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국학파: 일본 신화·역사 연구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250" b="1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위험한 방향 → 일본 우월·천황주의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62125"/>
            <a:ext cx="2552700" cy="1000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spc="-96">
                <a:solidFill>
                  <a:srgbClr val="FFB5A5"/>
                </a:solidFill>
                <a:latin typeface="Archivo Black"/>
                <a:ea typeface="Pretendard Black"/>
                <a:cs typeface="Pretendard Black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67175"/>
            <a:ext cx="13677900" cy="2152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spc="-96">
                <a:solidFill>
                  <a:srgbClr val="FFFFFF"/>
                </a:solidFill>
                <a:latin typeface="Archivo Black"/>
                <a:ea typeface="Pretendard Black"/>
                <a:cs typeface="Pretendard Black"/>
              </a:rPr>
              <a:t>갈림길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372225"/>
            <a:ext cx="10896600" cy="1000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30" b="1">
                <a:solidFill>
                  <a:srgbClr val="CBD5E1"/>
                </a:solidFill>
                <a:latin typeface="Archivo Black"/>
                <a:ea typeface="Pretendard"/>
                <a:cs typeface="Pretendard"/>
              </a:rPr>
              <a:t>'서양'이라는 시험지, 세 나라의 다른 답안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64592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4막 · 서학 수용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52500"/>
            <a:ext cx="15068550" cy="2152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16" b="1" spc="-76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같은 시험지, 답안이 갈리다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38324"/>
            <a:ext cx="164592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914400" y="2914650"/>
            <a:ext cx="16459200" cy="5715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067050"/>
            <a:ext cx="3810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50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3067050"/>
            <a:ext cx="3810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50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청 (중국)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72600" y="3067050"/>
            <a:ext cx="3810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50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조선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87400" y="3067050"/>
            <a:ext cx="3810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50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일본 (에도)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543300"/>
            <a:ext cx="3810000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50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태도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3543300"/>
            <a:ext cx="3810000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취미·호기심 수준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600" y="3543300"/>
            <a:ext cx="3810000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학문(서학)으로 수용 시도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87400" y="3543300"/>
            <a:ext cx="3810000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막부가 직접 제도화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429125"/>
            <a:ext cx="16459200" cy="9429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486275"/>
            <a:ext cx="3810000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50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창구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4486275"/>
            <a:ext cx="3810000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선교사 (아담 샬 등)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4486275"/>
            <a:ext cx="3810000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베이징 왕래 사신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87400" y="4486275"/>
            <a:ext cx="3810000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네덜란드 — 난학(蘭學)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429250"/>
            <a:ext cx="3810000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50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걸림돌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5429250"/>
            <a:ext cx="3810000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중화사상 · 포교금지(1723)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5429250"/>
            <a:ext cx="3810000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주창자 지위 낮음 · 천주교 탄압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87400" y="5429250"/>
            <a:ext cx="3810000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합리주의·시민사상 확산 → 탄압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6315075"/>
            <a:ext cx="16459200" cy="9429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6372225"/>
            <a:ext cx="3810000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50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결과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6372225"/>
            <a:ext cx="3810000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근본 변화 못 이룸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6372225"/>
            <a:ext cx="3810000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교류를 철저히 차단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6372225"/>
            <a:ext cx="3810000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난학 대중화 (『해체신서』 1774)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64592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4막 · 한 문장 대비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52500"/>
            <a:ext cx="15068550" cy="2152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16" b="1" spc="-76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왜 운명이 갈렸는가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38324"/>
            <a:ext cx="164592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 rot="90000">
            <a:off x="914399" y="2914649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90000">
            <a:off x="986831" y="2915598"/>
            <a:ext cx="5334000" cy="7620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 rot="90000">
            <a:off x="1283403" y="3144090"/>
            <a:ext cx="4724400" cy="247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청</a:t>
            </a:r>
          </a:p>
        </p:txBody>
      </p:sp>
      <p:sp>
        <p:nvSpPr>
          <p:cNvPr id="9" name="TextBox 8"/>
          <p:cNvSpPr txBox="1"/>
          <p:nvPr/>
        </p:nvSpPr>
        <p:spPr>
          <a:xfrm rot="90000">
            <a:off x="1273181" y="3448756"/>
            <a:ext cx="47244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186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가졌으나 안 썼다</a:t>
            </a:r>
          </a:p>
        </p:txBody>
      </p:sp>
      <p:sp>
        <p:nvSpPr>
          <p:cNvPr id="10" name="TextBox 9"/>
          <p:cNvSpPr txBox="1"/>
          <p:nvPr/>
        </p:nvSpPr>
        <p:spPr>
          <a:xfrm rot="90000">
            <a:off x="1207231" y="3981293"/>
            <a:ext cx="4724400" cy="4391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서양 학문을 일찍 접했지만 중화사상에 막혀 취미 수준에 그치고, 포교 금지 후 관심마저 식다.</a:t>
            </a:r>
          </a:p>
        </p:txBody>
      </p:sp>
      <p:sp>
        <p:nvSpPr>
          <p:cNvPr id="11" name="Rectangle 10"/>
          <p:cNvSpPr/>
          <p:nvPr/>
        </p:nvSpPr>
        <p:spPr>
          <a:xfrm rot="21534000">
            <a:off x="6477000" y="2914649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1534000">
            <a:off x="6423880" y="2915159"/>
            <a:ext cx="5334000" cy="762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 rot="21534000">
            <a:off x="6734714" y="3143702"/>
            <a:ext cx="4724400" cy="247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조선</a:t>
            </a:r>
          </a:p>
        </p:txBody>
      </p:sp>
      <p:sp>
        <p:nvSpPr>
          <p:cNvPr id="14" name="TextBox 13"/>
          <p:cNvSpPr txBox="1"/>
          <p:nvPr/>
        </p:nvSpPr>
        <p:spPr>
          <a:xfrm rot="21534000">
            <a:off x="6742211" y="3448430"/>
            <a:ext cx="47244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186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쓰려 했으나 못 썼다</a:t>
            </a:r>
          </a:p>
        </p:txBody>
      </p:sp>
      <p:sp>
        <p:nvSpPr>
          <p:cNvPr id="15" name="TextBox 14"/>
          <p:cNvSpPr txBox="1"/>
          <p:nvPr/>
        </p:nvSpPr>
        <p:spPr>
          <a:xfrm rot="21534000">
            <a:off x="6790577" y="3981365"/>
            <a:ext cx="4724400" cy="4391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박제가·정약용이 구체적 제안까지 냈으나, 관직 없는 이들의 주장이라 실현 못 하고 천주교와 함께 탄압되다.</a:t>
            </a:r>
          </a:p>
        </p:txBody>
      </p:sp>
      <p:sp>
        <p:nvSpPr>
          <p:cNvPr id="16" name="Rectangle 15"/>
          <p:cNvSpPr/>
          <p:nvPr/>
        </p:nvSpPr>
        <p:spPr>
          <a:xfrm rot="120000">
            <a:off x="12039599" y="2914650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120000">
            <a:off x="12136167" y="2916335"/>
            <a:ext cx="5334000" cy="76200"/>
          </a:xfrm>
          <a:prstGeom prst="rect">
            <a:avLst/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 rot="120000">
            <a:off x="12429997" y="3144744"/>
            <a:ext cx="4724400" cy="247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1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일본</a:t>
            </a:r>
          </a:p>
        </p:txBody>
      </p:sp>
      <p:sp>
        <p:nvSpPr>
          <p:cNvPr id="19" name="TextBox 18"/>
          <p:cNvSpPr txBox="1"/>
          <p:nvPr/>
        </p:nvSpPr>
        <p:spPr>
          <a:xfrm rot="120000">
            <a:off x="12416368" y="3449306"/>
            <a:ext cx="47244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186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위에서부터 받았다</a:t>
            </a:r>
          </a:p>
        </p:txBody>
      </p:sp>
      <p:sp>
        <p:nvSpPr>
          <p:cNvPr id="20" name="TextBox 19"/>
          <p:cNvSpPr txBox="1"/>
          <p:nvPr/>
        </p:nvSpPr>
        <p:spPr>
          <a:xfrm rot="120000">
            <a:off x="12328443" y="3981171"/>
            <a:ext cx="4724400" cy="4391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5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종교는 막되 네덜란드 창구로 학문은 수용. 막부가 난학 교습소를 세워 제도로 받아들이다.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64592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역량 기르기 · 토론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52500"/>
            <a:ext cx="15068550" cy="2152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16" b="1" spc="-76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만약 조선이 서학을 적극 받아들였다면?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38324"/>
            <a:ext cx="164592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2971800"/>
            <a:ext cx="57150" cy="2038349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0150" y="2914650"/>
            <a:ext cx="12001500" cy="2152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spc="-96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아이디어는 있었으나, 권력이 없었다.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9700"/>
            <a:ext cx="15068550" cy="3305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43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430" b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박제가: 선교사 초빙 · 기술자를 베이징에 파견해 배우게 하자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43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430" b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정약용: 역관·기술 전문가를 중국에 유학 보내 돌아오면 지방관으로 등용하자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43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430" b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토론: 조선 정부가 이 제안을 받아들였다면, 이후 조선의 운명은 어떻게 바뀌었을까?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62125"/>
            <a:ext cx="10896600" cy="1000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B5A5"/>
                </a:solidFill>
                <a:latin typeface="Archivo Black"/>
                <a:ea typeface="Pretendard"/>
                <a:cs typeface="Pretendard"/>
              </a:rPr>
              <a:t>맺으며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14650"/>
            <a:ext cx="15068550" cy="2152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spc="-96">
                <a:solidFill>
                  <a:srgbClr val="FFFFFF"/>
                </a:solidFill>
                <a:latin typeface="Archivo Black"/>
                <a:ea typeface="Pretendard Black"/>
                <a:cs typeface="Pretendard Black"/>
              </a:rPr>
              <a:t>단어가 아니라, 흐름을 외운다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19700"/>
            <a:ext cx="12287250" cy="1000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30" b="1">
                <a:solidFill>
                  <a:srgbClr val="CBD5E1"/>
                </a:solidFill>
                <a:latin typeface="Archivo Black"/>
                <a:ea typeface="Pretendard"/>
                <a:cs typeface="Pretendard"/>
              </a:rPr>
              <a:t>상공업이 서민을 키웠고 → 서민이 문화를 바꿨고 → 그 변화가 학문의 각성으로 → 마침내 서양 앞에서 각자의 답을 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7524749"/>
            <a:ext cx="5334000" cy="1000125"/>
          </a:xfrm>
          <a:prstGeom prst="rect">
            <a:avLst/>
          </a:prstGeom>
          <a:solidFill>
            <a:srgbClr val="FF5A36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50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그 답의 차이가 19세기의 운명을 갈랐다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